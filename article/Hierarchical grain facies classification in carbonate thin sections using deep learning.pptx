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Garet Bold" charset="1" panose="00000000000000000000"/>
      <p:regular r:id="rId23"/>
    </p:embeddedFont>
    <p:embeddedFont>
      <p:font typeface="Garet" charset="1" panose="00000000000000000000"/>
      <p:regular r:id="rId24"/>
    </p:embeddedFont>
    <p:embeddedFont>
      <p:font typeface="Garet Light" charset="1" panose="00000000000000000000"/>
      <p:regular r:id="rId25"/>
    </p:embeddedFont>
    <p:embeddedFont>
      <p:font typeface="Archivo Black" charset="1" panose="020B0A03020202020B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91005"/>
            <a:ext cx="986761" cy="986761"/>
          </a:xfrm>
          <a:custGeom>
            <a:avLst/>
            <a:gdLst/>
            <a:ahLst/>
            <a:cxnLst/>
            <a:rect r="r" b="b" t="t" l="l"/>
            <a:pathLst>
              <a:path h="986761" w="986761">
                <a:moveTo>
                  <a:pt x="0" y="0"/>
                </a:moveTo>
                <a:lnTo>
                  <a:pt x="986761" y="0"/>
                </a:lnTo>
                <a:lnTo>
                  <a:pt x="986761" y="986761"/>
                </a:lnTo>
                <a:lnTo>
                  <a:pt x="0" y="9867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718950"/>
            <a:ext cx="18288000" cy="1568050"/>
          </a:xfrm>
          <a:custGeom>
            <a:avLst/>
            <a:gdLst/>
            <a:ahLst/>
            <a:cxnLst/>
            <a:rect r="r" b="b" t="t" l="l"/>
            <a:pathLst>
              <a:path h="1568050" w="18288000">
                <a:moveTo>
                  <a:pt x="0" y="0"/>
                </a:moveTo>
                <a:lnTo>
                  <a:pt x="18288000" y="0"/>
                </a:lnTo>
                <a:lnTo>
                  <a:pt x="18288000" y="1568050"/>
                </a:lnTo>
                <a:lnTo>
                  <a:pt x="0" y="1568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911" r="0" b="-3091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00103" y="7614948"/>
            <a:ext cx="336609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b="true" sz="16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0103" y="7921755"/>
            <a:ext cx="336609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MUSAWER MURADI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66199" y="7614948"/>
            <a:ext cx="336609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b="true" sz="16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ADVISORS: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66199" y="7921755"/>
            <a:ext cx="10321698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Assoc. Prof. ALEV MUTLU                                                        Faculty of Computer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4255" y="1254821"/>
            <a:ext cx="432108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Kocaeli University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12</a:t>
            </a:r>
            <a:r>
              <a:rPr lang="en-US" sz="18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/05/2026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058" y="4017308"/>
            <a:ext cx="15831883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sz="3999" spc="-31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HIERARCHICAL GRAIN FACIES CLASSIFICATION IN CA</a:t>
            </a:r>
            <a:r>
              <a:rPr lang="en-US" sz="3999" spc="-315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RBONATE THIN SECTIONS USING DEEP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199" y="8206235"/>
            <a:ext cx="974643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Asst. Prof. ARNAUD GALLOIS                                                 Faculty of Geological Engineering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199594" y="1814512"/>
          <a:ext cx="6511183" cy="7391400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Motivation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Petrography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Components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Challenge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Class Imbalance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Evaluation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Takeaways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41" y="243969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6268359" cy="10287000"/>
            <a:chOff x="0" y="0"/>
            <a:chExt cx="8357812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7149" t="0" r="27149" b="0"/>
            <a:stretch>
              <a:fillRect/>
            </a:stretch>
          </p:blipFill>
          <p:spPr>
            <a:xfrm flipH="false" flipV="false">
              <a:off x="0" y="0"/>
              <a:ext cx="8357812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2291807" y="4888813"/>
            <a:ext cx="4790282" cy="262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Carbonate grains record depositional energy, reworking, diagenesis, and palaeoenvironmental change.</a:t>
            </a:r>
          </a:p>
          <a:p>
            <a:pPr algn="just">
              <a:lnSpc>
                <a:spcPts val="350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65307" y="4602163"/>
            <a:ext cx="312090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Rare components can carry important geological information.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6406" y="4606238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5307" y="2169707"/>
            <a:ext cx="3120902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Grain assemblages help interpret ancient depositional environments.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6406" y="2169707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91807" y="3637998"/>
            <a:ext cx="5144704" cy="100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4"/>
              </a:lnSpc>
              <a:spcBef>
                <a:spcPct val="0"/>
              </a:spcBef>
            </a:pPr>
            <a:r>
              <a:rPr lang="en-US" sz="3834" spc="-30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carbonate grain classification matters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6406" y="6355168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5307" y="6329768"/>
            <a:ext cx="3120902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Broken ooids and intraclasts may indicate high-energy reworking.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6268359" cy="10287000"/>
            <a:chOff x="0" y="0"/>
            <a:chExt cx="8357812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8618" t="0" r="8618" b="0"/>
            <a:stretch>
              <a:fillRect/>
            </a:stretch>
          </p:blipFill>
          <p:spPr>
            <a:xfrm flipH="false" flipV="false">
              <a:off x="0" y="0"/>
              <a:ext cx="8357812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2469018" y="4726207"/>
            <a:ext cx="4432190" cy="306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Thin sections reveal carbonate grains at microscopic scale, where facies components can be identified from texture, shape, and internal fabric.</a:t>
            </a:r>
          </a:p>
          <a:p>
            <a:pPr algn="just">
              <a:lnSpc>
                <a:spcPts val="350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67601" y="3450562"/>
            <a:ext cx="3299948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Rock slices ground to ~30 µm thickness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75962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7601" y="1785156"/>
            <a:ext cx="3397609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Standard method in sedimentary petrography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785156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69018" y="2921924"/>
            <a:ext cx="479028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Thin-Section Petrography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026884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7601" y="7017359"/>
            <a:ext cx="3397609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Reveals grain boundaries, textures, and diagenetic alteration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158712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7601" y="5105142"/>
            <a:ext cx="3120902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Observed under plain polarised light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80366" y="3220323"/>
            <a:ext cx="9778934" cy="4489380"/>
          </a:xfrm>
          <a:custGeom>
            <a:avLst/>
            <a:gdLst/>
            <a:ahLst/>
            <a:cxnLst/>
            <a:rect r="r" b="b" t="t" l="l"/>
            <a:pathLst>
              <a:path h="4489380" w="9778934">
                <a:moveTo>
                  <a:pt x="0" y="0"/>
                </a:moveTo>
                <a:lnTo>
                  <a:pt x="9778934" y="0"/>
                </a:lnTo>
                <a:lnTo>
                  <a:pt x="9778934" y="4489380"/>
                </a:lnTo>
                <a:lnTo>
                  <a:pt x="0" y="4489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09" t="0" r="-1893" b="-32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565910"/>
            <a:ext cx="7029531" cy="12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Carbonate grain facies components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1442" y="3182223"/>
            <a:ext cx="6084332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THIS STUDY FOCUSES ON FOUR CARBONATE GRAIN TYPES THAT ARE COMMON OR SEDIMENTOLOGICALLY MEANINGFUL IN THE DATASET.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b="true" sz="2000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ELOID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OOID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BROKEN OOID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INTRACLAST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4302" y="8825102"/>
            <a:ext cx="15459396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Note: Ostrac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ods, bivalve fragments, and quartz grains were present but excluded because their sample counts were too small for reliable modelling.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Typical size context: peloids ~100 µm-1 mm; ooids ~200 µm-2 mm; intraclasts ≥200 µm; broken ooids are fractured ooids.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97491" y="4331049"/>
            <a:ext cx="10493018" cy="5082778"/>
          </a:xfrm>
          <a:custGeom>
            <a:avLst/>
            <a:gdLst/>
            <a:ahLst/>
            <a:cxnLst/>
            <a:rect r="r" b="b" t="t" l="l"/>
            <a:pathLst>
              <a:path h="5082778" w="10493018">
                <a:moveTo>
                  <a:pt x="0" y="0"/>
                </a:moveTo>
                <a:lnTo>
                  <a:pt x="10493018" y="0"/>
                </a:lnTo>
                <a:lnTo>
                  <a:pt x="10493018" y="5082778"/>
                </a:lnTo>
                <a:lnTo>
                  <a:pt x="0" y="5082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571" r="-16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0952" y="1652814"/>
            <a:ext cx="7740444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This Is a Hard, Manual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0952" y="3472443"/>
            <a:ext cx="7740444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Requires expert petrographic knowledge.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Diagenesis can erase diagnostic textures.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649654" y="3449856"/>
            <a:ext cx="8609646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Peloids, altered ooids, and intraclasts may look similar.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nterpretation can become subjective in ambiguous grains.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069756" y="9594802"/>
            <a:ext cx="814848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Representative m</a:t>
            </a:r>
            <a:r>
              <a:rPr lang="en-US" sz="1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odel inputs: 96 × 96 px grain patches; physical scale not calibrated.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1275" y="4717717"/>
            <a:ext cx="14491100" cy="5180568"/>
          </a:xfrm>
          <a:custGeom>
            <a:avLst/>
            <a:gdLst/>
            <a:ahLst/>
            <a:cxnLst/>
            <a:rect r="r" b="b" t="t" l="l"/>
            <a:pathLst>
              <a:path h="5180568" w="14491100">
                <a:moveTo>
                  <a:pt x="0" y="0"/>
                </a:moveTo>
                <a:lnTo>
                  <a:pt x="14491101" y="0"/>
                </a:lnTo>
                <a:lnTo>
                  <a:pt x="14491101" y="5180569"/>
                </a:lnTo>
                <a:lnTo>
                  <a:pt x="0" y="51805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7082" y="1009650"/>
            <a:ext cx="81153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7082" y="2365608"/>
            <a:ext cx="13768040" cy="66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dataset contains 2,642 annotated carbonate grains from 18 plain polarised light micrographs.</a:t>
            </a:r>
          </a:p>
          <a:p>
            <a:pPr algn="l">
              <a:lnSpc>
                <a:spcPts val="268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11047"/>
            <a:ext cx="7664150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3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9 thin sections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7082" y="3816202"/>
            <a:ext cx="7664150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3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Manual polygon annotations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211047"/>
            <a:ext cx="7664150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3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96 × 96 masked grain patches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47818" y="981075"/>
            <a:ext cx="37114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816202"/>
            <a:ext cx="7664150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3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Four target classes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89201" y="3349757"/>
            <a:ext cx="10670099" cy="6468748"/>
          </a:xfrm>
          <a:custGeom>
            <a:avLst/>
            <a:gdLst/>
            <a:ahLst/>
            <a:cxnLst/>
            <a:rect r="r" b="b" t="t" l="l"/>
            <a:pathLst>
              <a:path h="6468748" w="10670099">
                <a:moveTo>
                  <a:pt x="0" y="0"/>
                </a:moveTo>
                <a:lnTo>
                  <a:pt x="10670099" y="0"/>
                </a:lnTo>
                <a:lnTo>
                  <a:pt x="10670099" y="6468748"/>
                </a:lnTo>
                <a:lnTo>
                  <a:pt x="0" y="6468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70005"/>
            <a:ext cx="10482231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Extreme class imbalance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646170"/>
            <a:ext cx="5241115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Pe</a:t>
            </a: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loid: 2,300 grains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O</a:t>
            </a: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oid: 210 grains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Intraclast: 103 grains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Broken ooid: 29 grains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 model can achieve high overall accuracy while still missing the rare classes.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94879"/>
            <a:ext cx="834210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THE DATASET IS STRONGLY DOMINATED BY PELOIDS.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84415" y="2968823"/>
            <a:ext cx="10019041" cy="6387138"/>
          </a:xfrm>
          <a:custGeom>
            <a:avLst/>
            <a:gdLst/>
            <a:ahLst/>
            <a:cxnLst/>
            <a:rect r="r" b="b" t="t" l="l"/>
            <a:pathLst>
              <a:path h="6387138" w="10019041">
                <a:moveTo>
                  <a:pt x="0" y="0"/>
                </a:moveTo>
                <a:lnTo>
                  <a:pt x="10019041" y="0"/>
                </a:lnTo>
                <a:lnTo>
                  <a:pt x="10019041" y="6387138"/>
                </a:lnTo>
                <a:lnTo>
                  <a:pt x="0" y="6387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83018"/>
            <a:ext cx="12907491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Balanced Accuracy matters</a:t>
            </a:r>
          </a:p>
          <a:p>
            <a:pPr algn="l">
              <a:lnSpc>
                <a:spcPts val="580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07891"/>
            <a:ext cx="1171143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OVERALL ACCURACY IS MISLEADING UNDER SEVERE CLASS IMBALANCE.</a:t>
            </a:r>
          </a:p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757416"/>
            <a:ext cx="5516413" cy="449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3"/>
              </a:lnSpc>
              <a:spcBef>
                <a:spcPct val="0"/>
              </a:spcBef>
            </a:pPr>
            <a:r>
              <a:rPr lang="en-US" sz="3003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Pel</a:t>
            </a:r>
            <a:r>
              <a:rPr lang="en-US" sz="3003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oids represent 87.1% of labelled grains.</a:t>
            </a:r>
          </a:p>
          <a:p>
            <a:pPr algn="l">
              <a:lnSpc>
                <a:spcPts val="3003"/>
              </a:lnSpc>
              <a:spcBef>
                <a:spcPct val="0"/>
              </a:spcBef>
            </a:pPr>
          </a:p>
          <a:p>
            <a:pPr algn="l">
              <a:lnSpc>
                <a:spcPts val="3003"/>
              </a:lnSpc>
              <a:spcBef>
                <a:spcPct val="0"/>
              </a:spcBef>
            </a:pPr>
            <a:r>
              <a:rPr lang="en-US" sz="3003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Broken ooids represent only 1.1%.</a:t>
            </a:r>
          </a:p>
          <a:p>
            <a:pPr algn="l">
              <a:lnSpc>
                <a:spcPts val="3003"/>
              </a:lnSpc>
              <a:spcBef>
                <a:spcPct val="0"/>
              </a:spcBef>
            </a:pPr>
          </a:p>
          <a:p>
            <a:pPr algn="l">
              <a:lnSpc>
                <a:spcPts val="3003"/>
              </a:lnSpc>
              <a:spcBef>
                <a:spcPct val="0"/>
              </a:spcBef>
            </a:pPr>
            <a:r>
              <a:rPr lang="en-US" sz="3003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Peloid-to-broken-ooid ratio is about 79:1.</a:t>
            </a:r>
          </a:p>
          <a:p>
            <a:pPr algn="l">
              <a:lnSpc>
                <a:spcPts val="3003"/>
              </a:lnSpc>
              <a:spcBef>
                <a:spcPct val="0"/>
              </a:spcBef>
            </a:pPr>
          </a:p>
          <a:p>
            <a:pPr algn="l">
              <a:lnSpc>
                <a:spcPts val="3003"/>
              </a:lnSpc>
              <a:spcBef>
                <a:spcPct val="0"/>
              </a:spcBef>
            </a:pPr>
            <a:r>
              <a:rPr lang="en-US" sz="3003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Balanced Accuracy gives equal importance to each class.</a:t>
            </a:r>
          </a:p>
          <a:p>
            <a:pPr algn="l">
              <a:lnSpc>
                <a:spcPts val="300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13785" y="0"/>
            <a:ext cx="7296949" cy="10287000"/>
          </a:xfrm>
          <a:custGeom>
            <a:avLst/>
            <a:gdLst/>
            <a:ahLst/>
            <a:cxnLst/>
            <a:rect r="r" b="b" t="t" l="l"/>
            <a:pathLst>
              <a:path h="10287000" w="7296949">
                <a:moveTo>
                  <a:pt x="0" y="0"/>
                </a:moveTo>
                <a:lnTo>
                  <a:pt x="7296949" y="0"/>
                </a:lnTo>
                <a:lnTo>
                  <a:pt x="72969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61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70005"/>
            <a:ext cx="5875865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classes are visually close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84636"/>
            <a:ext cx="6564074" cy="555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Peloids are often micritic and structureless.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Ooids depend on visible cortical lamination.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Broken ooids depend on a fractured cortex.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Intraclasts may be recognised by angularity or remnant fabric.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  <a:p>
            <a:pPr algn="l">
              <a:lnSpc>
                <a:spcPts val="2091"/>
              </a:lnSpc>
              <a:spcBef>
                <a:spcPct val="0"/>
              </a:spcBef>
            </a:pPr>
            <a:r>
              <a:rPr lang="en-US" sz="2091" spc="-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These are subtle petrographic distinctions, not visually obvious object categories.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  <a:p>
            <a:pPr algn="l">
              <a:lnSpc>
                <a:spcPts val="1391"/>
              </a:lnSpc>
              <a:spcBef>
                <a:spcPct val="0"/>
              </a:spcBef>
            </a:pPr>
            <a:r>
              <a:rPr lang="en-US" sz="1391" spc="-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Representative 96 × 96 px model inputs; physical scale varies by source micrograph and is not shown.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83018"/>
            <a:ext cx="7763987" cy="225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general computer vision is not enough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11/17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97648"/>
            <a:ext cx="7763987" cy="354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Generic classifiers assume many examples and separable classes.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Carbonate grains violate both assumptions.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SAM + XGBoost was useful as a pilot.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But generic segmentation and hand-crafted features were not enough.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The model should follow geological reasoning.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07243" y="2955358"/>
            <a:ext cx="9633472" cy="6352491"/>
          </a:xfrm>
          <a:custGeom>
            <a:avLst/>
            <a:gdLst/>
            <a:ahLst/>
            <a:cxnLst/>
            <a:rect r="r" b="b" t="t" l="l"/>
            <a:pathLst>
              <a:path h="6352491" w="9633472">
                <a:moveTo>
                  <a:pt x="0" y="0"/>
                </a:moveTo>
                <a:lnTo>
                  <a:pt x="9633472" y="0"/>
                </a:lnTo>
                <a:lnTo>
                  <a:pt x="9633472" y="6352491"/>
                </a:lnTo>
                <a:lnTo>
                  <a:pt x="0" y="6352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387" t="-12684" r="-11975" b="-1268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50955"/>
            <a:ext cx="12858104" cy="199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8"/>
              </a:lnSpc>
            </a:pPr>
            <a:r>
              <a:rPr lang="en-US" sz="5108" spc="-40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 hierarchy that follows sedimentological reasoning</a:t>
            </a:r>
          </a:p>
          <a:p>
            <a:pPr algn="l">
              <a:lnSpc>
                <a:spcPts val="510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12/17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84636"/>
            <a:ext cx="5511067" cy="49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8"/>
              </a:lnSpc>
              <a:spcBef>
                <a:spcPct val="0"/>
              </a:spcBef>
            </a:pPr>
            <a:r>
              <a:rPr lang="en-US" sz="3508" spc="-2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Inst</a:t>
            </a:r>
            <a:r>
              <a:rPr lang="en-US" sz="3508" spc="-2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ead of one flat four-class decision, the model asks three geological questions:</a:t>
            </a:r>
          </a:p>
          <a:p>
            <a:pPr algn="l">
              <a:lnSpc>
                <a:spcPts val="3508"/>
              </a:lnSpc>
              <a:spcBef>
                <a:spcPct val="0"/>
              </a:spcBef>
            </a:pPr>
          </a:p>
          <a:p>
            <a:pPr algn="l">
              <a:lnSpc>
                <a:spcPts val="3508"/>
              </a:lnSpc>
              <a:spcBef>
                <a:spcPct val="0"/>
              </a:spcBef>
            </a:pPr>
            <a:r>
              <a:rPr lang="en-US" sz="3508" spc="-2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1. Is this grain a peloid?</a:t>
            </a:r>
          </a:p>
          <a:p>
            <a:pPr algn="l">
              <a:lnSpc>
                <a:spcPts val="3508"/>
              </a:lnSpc>
              <a:spcBef>
                <a:spcPct val="0"/>
              </a:spcBef>
            </a:pPr>
            <a:r>
              <a:rPr lang="en-US" sz="3508" spc="-2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2. If not, is it ooid-like or an intraclast?</a:t>
            </a:r>
          </a:p>
          <a:p>
            <a:pPr algn="l">
              <a:lnSpc>
                <a:spcPts val="3508"/>
              </a:lnSpc>
              <a:spcBef>
                <a:spcPct val="0"/>
              </a:spcBef>
            </a:pPr>
            <a:r>
              <a:rPr lang="en-US" sz="3508" spc="-2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3. If ooid-like, is it intact or broken?</a:t>
            </a:r>
          </a:p>
          <a:p>
            <a:pPr algn="l">
              <a:lnSpc>
                <a:spcPts val="3508"/>
              </a:lnSpc>
              <a:spcBef>
                <a:spcPct val="0"/>
              </a:spcBef>
            </a:pPr>
          </a:p>
          <a:p>
            <a:pPr algn="l">
              <a:lnSpc>
                <a:spcPts val="35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70005"/>
            <a:ext cx="14796234" cy="225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Hierarchical ResNet-18 and training strategy</a:t>
            </a:r>
          </a:p>
          <a:p>
            <a:pPr algn="l">
              <a:lnSpc>
                <a:spcPts val="580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13/17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384636"/>
            <a:ext cx="6564074" cy="4330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ResNet-18 extracts features from masked grain patches.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Three binary heads implement the hierarchy.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Focal Loss handles local imbalance.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Broken ooids are oversampled.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Staged training protects minority-class learning.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Orientation averaging stabilises predictions.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729776" y="2905809"/>
            <a:ext cx="9633472" cy="6352491"/>
          </a:xfrm>
          <a:custGeom>
            <a:avLst/>
            <a:gdLst/>
            <a:ahLst/>
            <a:cxnLst/>
            <a:rect r="r" b="b" t="t" l="l"/>
            <a:pathLst>
              <a:path h="6352491" w="9633472">
                <a:moveTo>
                  <a:pt x="0" y="0"/>
                </a:moveTo>
                <a:lnTo>
                  <a:pt x="9633472" y="0"/>
                </a:lnTo>
                <a:lnTo>
                  <a:pt x="9633472" y="6352491"/>
                </a:lnTo>
                <a:lnTo>
                  <a:pt x="0" y="6352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387" t="-12684" r="-11975" b="-12684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60734" y="3084335"/>
            <a:ext cx="9554968" cy="5697150"/>
          </a:xfrm>
          <a:custGeom>
            <a:avLst/>
            <a:gdLst/>
            <a:ahLst/>
            <a:cxnLst/>
            <a:rect r="r" b="b" t="t" l="l"/>
            <a:pathLst>
              <a:path h="5697150" w="9554968">
                <a:moveTo>
                  <a:pt x="0" y="0"/>
                </a:moveTo>
                <a:lnTo>
                  <a:pt x="9554968" y="0"/>
                </a:lnTo>
                <a:lnTo>
                  <a:pt x="9554968" y="5697149"/>
                </a:lnTo>
                <a:lnTo>
                  <a:pt x="0" y="5697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70005"/>
            <a:ext cx="1479623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What improved rare-grain recovery?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14/17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84636"/>
            <a:ext cx="6564074" cy="315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Hierarchical base model recovered only 1/6 broken ooids.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With targeted oversampling: 4/6 broken ooids.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Full model: 5/6 broken ooids.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Balanced Accuracy improved from 63.3% to 83.5%.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50195" y="2948658"/>
            <a:ext cx="8376045" cy="7234809"/>
          </a:xfrm>
          <a:custGeom>
            <a:avLst/>
            <a:gdLst/>
            <a:ahLst/>
            <a:cxnLst/>
            <a:rect r="r" b="b" t="t" l="l"/>
            <a:pathLst>
              <a:path h="7234809" w="8376045">
                <a:moveTo>
                  <a:pt x="0" y="0"/>
                </a:moveTo>
                <a:lnTo>
                  <a:pt x="8376046" y="0"/>
                </a:lnTo>
                <a:lnTo>
                  <a:pt x="8376046" y="7234809"/>
                </a:lnTo>
                <a:lnTo>
                  <a:pt x="0" y="72348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70005"/>
            <a:ext cx="14796234" cy="225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Full model performance and remaining errors</a:t>
            </a:r>
          </a:p>
          <a:p>
            <a:pPr algn="l">
              <a:lnSpc>
                <a:spcPts val="580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15/17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84636"/>
            <a:ext cx="6564074" cy="275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On the</a:t>
            </a: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held-out test set of 529 grains: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Balanced Accuracy: 83.5%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Overall Accuracy: 92.1%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Broken ooid recall: 83.3%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Intraclast recall: 71.4%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70005"/>
            <a:ext cx="14796234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Limitations and take-home message</a:t>
            </a:r>
          </a:p>
          <a:p>
            <a:pPr algn="l">
              <a:lnSpc>
                <a:spcPts val="580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16/17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8667" y="3446285"/>
            <a:ext cx="7228150" cy="305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3403" spc="-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Limitations:</a:t>
            </a:r>
          </a:p>
          <a:p>
            <a:pPr algn="l">
              <a:lnSpc>
                <a:spcPts val="3403"/>
              </a:lnSpc>
            </a:pPr>
          </a:p>
          <a:p>
            <a:pPr algn="l">
              <a:lnSpc>
                <a:spcPts val="3403"/>
              </a:lnSpc>
              <a:spcBef>
                <a:spcPct val="0"/>
              </a:spcBef>
            </a:pPr>
            <a:r>
              <a:rPr lang="en-US" sz="3403" spc="-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O</a:t>
            </a:r>
            <a:r>
              <a:rPr lang="en-US" sz="3403" spc="-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 carbonate succession</a:t>
            </a:r>
          </a:p>
          <a:p>
            <a:pPr algn="l">
              <a:lnSpc>
                <a:spcPts val="3403"/>
              </a:lnSpc>
              <a:spcBef>
                <a:spcPct val="0"/>
              </a:spcBef>
            </a:pPr>
            <a:r>
              <a:rPr lang="en-US" sz="3403" spc="-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Only 29 broken ooids</a:t>
            </a:r>
          </a:p>
          <a:p>
            <a:pPr algn="l">
              <a:lnSpc>
                <a:spcPts val="3403"/>
              </a:lnSpc>
              <a:spcBef>
                <a:spcPct val="0"/>
              </a:spcBef>
            </a:pPr>
            <a:r>
              <a:rPr lang="en-US" sz="3403" spc="-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Generalisation remains untested</a:t>
            </a:r>
          </a:p>
          <a:p>
            <a:pPr algn="l">
              <a:lnSpc>
                <a:spcPts val="3403"/>
              </a:lnSpc>
              <a:spcBef>
                <a:spcPct val="0"/>
              </a:spcBef>
            </a:pPr>
          </a:p>
          <a:p>
            <a:pPr algn="l">
              <a:lnSpc>
                <a:spcPts val="3403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834230" y="3455810"/>
            <a:ext cx="8425070" cy="354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Take-home message</a:t>
            </a:r>
          </a:p>
          <a:p>
            <a:pPr algn="l">
              <a:lnSpc>
                <a:spcPts val="3091"/>
              </a:lnSpc>
            </a:pP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R</a:t>
            </a: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are grains are important but underrepresented.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Geological hierarchy helps structure the model.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Imbalance-aware training is essential.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42303" y="4935799"/>
            <a:ext cx="7203393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9999" spc="-78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DAHJW3JD5pM</dc:identifier>
  <dcterms:modified xsi:type="dcterms:W3CDTF">2011-08-01T06:04:30Z</dcterms:modified>
  <cp:revision>1</cp:revision>
  <dc:title>Hierarchical grain facies classification in carbonate thin sections using deep learning</dc:title>
</cp:coreProperties>
</file>